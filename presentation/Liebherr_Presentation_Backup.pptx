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We are Simon, Adam, Zofia, Philipp and Zarah, and we present our analysis of the Liebherr Group for 2022 to 2025.
Our report is written for a long-term investor who thinks about buying a minority stake. So our question is simple: should this investor invest – and if not, why not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give you the answer first: not yet.
Liebherr is financially sound. Equity finances 53.5 per cent of total assets, and cash covers current debt 2.6 times, so the risk of financial distress is low.
But a strong balance sheet is not a good investment by itself. The operating margin was only 2.8 per cent – less than a fifth of Caterpillar and the industry – and free cash flow was negative in three of four years. Our accounting tests put the margin even lower, between 1.6 and 2.8 per cent.
So our advice: do not invest now, and reassess on the 2026 statements. Let us show you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Liebherr is a family-owned, unlisted group, founded in 1949, with almost 56,000 employees in 13 product segments.
In 2025 construction and mining – almost two thirds of revenue – fell by 5.5 per cent, but the other segments grew by 14.7 per cent. That is why the group still grew a little.
The environment is difficult: slow European construction growth, US tariffs and low-cost competitors, and higher interest rates for customers. Liebherr itself expects no real upswing before 2027. So how does Liebherr compete in this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Liebherr competes with differentiation in custom businesses like cranes and mining, and with scale in volume businesses like earthmoving. Three advantages support this.
First, diversification: 13 segments spread the risk – in 2025 the other segments grew while construction fell. Second, vertical integration: Liebherr builds key technologies itself and sells through its own companies, not through dealers. Third, innovation: R&amp;D rose every year to 708 million euro, 4.8 per cent of revenue – more than Caterpillar.
But each advantage has a price: diversification does not raise the margin, vertical integration ties up capital, and R&amp;D kept rising while profit fell.
So the advantage is real, but it sits in the asset base, not yet in the margin. Does it turn into returns? The numbers show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at the bottom show revenue: it grew 11.5 per cent in 2023, but only 1 per cent in 2025.
The lines above show the bigger problem. Liebherr's margin, in yellow, was around 4 per cent and fell to 2.8 per cent in 2025. Caterpillar earned 16 to 21 per cent, the industry 15.9. The gap existed in every single year – so this is not one bad year.
The bridge on the right explains 2025: personnel costs grew five times faster than revenue and cost 1.2 points, and other operating items cost another 1.25 points – without any explanation.
The DuPont analysis shows what this means for the owners: the pre-tax return on equity fell from 7.6 to 4.8 per cent, and almost all of it comes from lower profitability – not from efficiency or debt.
Each margin point is worth about 148 million euro. But can we trust the reported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Liebherr publishes only summary statements – the full audited statements are not public, and there is no segment note.
Three accounts carry most of the judgement. Inventories: overhead is allocated at a normal capacity that is not defined, and the allowance for old stock is not disclosed. Provisions: reversals rose to 143 million euro, but the net charge stayed flat. Fixed assets: Liebherr depreciates more slowly than Caterpillar, and own work capitalised equals 77 per cent of the operating result.
The fourth box matters most: other operating expenses rose by 228 million euro, and there is no note at all. So the biggest cost increase of 2025 cannot be explained. Four of our nine red-flag tests raised a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is an actual adjustment we made; on the right are sensitivities we only measured.
Caterpillar values most inventory with LIFO, which IAS 2 does not allow and Liebherr does not use. Caterpillar discloses its LIFO reserve, so the correction is exact: plus 4.3 billion dollars on inventories and equity, plus 441 million on operating profit. Its margin rises from 16.5 to 17.2 per cent – so the gap gets bigger, not smaller.
For Liebherr we only illustrate: with a normal provision charge the margin would be 2.4 per cent, at Caterpillar's depreciation rate 2.1, and both together about 1.6 per cent.
So the accounting does not hide a better company. But the balance sheet strength survives: the equity ratio stays around 50 per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balance sheet is Liebherr's clearest strength: 53.5 per cent equity, much less debt than the industry, and cash covering current debt 2.6 times.
But look at the cash. Yellow is operating cash flow, grey is capital expenditure. In 2022 and 2023 operating cash flow was even negative because Liebherr built up stock. Over four years it invested 2.4 billion euro but generated only 1.3 billion from operations – 190 per cent. Free cash flow was negative in three of four years.
So the cushion shrinks: the net financial position fell from 523 to 249 million euro, and debt to EBITDA rose to 2.9, above the industry. If the 2025 shortfall repeated, the cushion would last only about 1.1 years. The balance sheet buys time – it does not replace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is the cash tied up? Mainly in inventories: 42.9 per cent of revenue, 2.6 times the industry.
Measured in days of revenue – a proxy, because Liebherr reports no cost of sales – the cash conversion cycle is about 203 days, 77 days longer than Caterpillar. Liebherr holds stock longer and pays suppliers faster.
This is the biggest lever management controls: ten days less would release about 405 million euro. But only once – so it cannot replace a better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would have to change before an investment makes sense? We check three conditions on the 2026 statements.
First, the margin should return to at least its four-year average of 3.9 per cent – in 2025 it was 2.8. Second, free cash flow should be positive and cover distributions – it was minus 176 million. Third, the investor needs information rights, for example on the 228 million euro of unexplained other costs.
And 3.9 per cent is only a trigger, not a good return: the return on capital employed was 3.5 per cent before tax, against a 7.7 per cent benchmark.
The reward is real – the average margin alone adds 157 million euro of profit. But a minority shareholder has little influence, a low payout and shares that are hard to sell. So meeting the conditions starts a new analysis, and the price would need a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our answer to the central question: Liebherr is financially strong, but operationally challenged.
Three takeaways. The balance sheet is strong and survives our accounting tests. Returns and cash generation are too weak, and the gap to Caterpillar exists in every year. And the accounting analysis sharpens the verdict rather than softening it.
If the margin stays near 2.8 per cent in 2026 and the net financial position turns negative, the investor should drop the case. In one sentence: see the turn in the figures before committing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attention. We are happy to answer your questions.
Back-up figures for Q&amp;A: ROCE 2024 5.9 % before tax at a 4.6 % margin; sustainable growth rate 2.4 %; personnel expenses 28.6 % of revenue (26.4 % in 2023); only €56 m of a €272 m profit distributed in 2025; a deferred tax liability on Caterpillar's LIFO reserve at 21 % would lower its equity ratio only from 24.9 % to 24.2 %.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jpg"/><Relationship Id="rId10" Type="http://schemas.openxmlformats.org/officeDocument/2006/relationships/image" Target="../media/image-10-10.jpg"/><Relationship Id="rId11" Type="http://schemas.openxmlformats.org/officeDocument/2006/relationships/image" Target="../media/image-10-11.jp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Base" descr="Slide 1: Title">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Title – element 1">    </p:cNvPr>
          <p:cNvPicPr>
            <a:picLocks noChangeAspect="1"/>
          </p:cNvPicPr>
          <p:nvPr/>
        </p:nvPicPr>
        <p:blipFill>
          <a:blip r:embed="rId2"/>
          <a:stretch>
            <a:fillRect/>
          </a:stretch>
        </p:blipFill>
        <p:spPr>
          <a:xfrm>
            <a:off x="5054600" y="736600"/>
            <a:ext cx="3889474" cy="609600"/>
          </a:xfrm>
          <a:prstGeom prst="rect">
            <a:avLst/>
          </a:prstGeom>
        </p:spPr>
      </p:pic>
      <p:pic>
        <p:nvPicPr>
          <p:cNvPr id="4" name="Element 2" descr="Title – element 2">    </p:cNvPr>
          <p:cNvPicPr>
            <a:picLocks noChangeAspect="1"/>
          </p:cNvPicPr>
          <p:nvPr/>
        </p:nvPicPr>
        <p:blipFill>
          <a:blip r:embed="rId3"/>
          <a:stretch>
            <a:fillRect/>
          </a:stretch>
        </p:blipFill>
        <p:spPr>
          <a:xfrm>
            <a:off x="5054600" y="1879600"/>
            <a:ext cx="4696916" cy="1103511"/>
          </a:xfrm>
          <a:prstGeom prst="rect">
            <a:avLst/>
          </a:prstGeom>
        </p:spPr>
      </p:pic>
      <p:pic>
        <p:nvPicPr>
          <p:cNvPr id="5" name="Element 3" descr="Title – element 3">    </p:cNvPr>
          <p:cNvPicPr>
            <a:picLocks noChangeAspect="1"/>
          </p:cNvPicPr>
          <p:nvPr/>
        </p:nvPicPr>
        <p:blipFill>
          <a:blip r:embed="rId4"/>
          <a:stretch>
            <a:fillRect/>
          </a:stretch>
        </p:blipFill>
        <p:spPr>
          <a:xfrm>
            <a:off x="5054600" y="2895600"/>
            <a:ext cx="6527800" cy="1431925"/>
          </a:xfrm>
          <a:prstGeom prst="rect">
            <a:avLst/>
          </a:prstGeom>
        </p:spPr>
      </p:pic>
      <p:pic>
        <p:nvPicPr>
          <p:cNvPr id="6" name="Element 4" descr="Title – element 4">    </p:cNvPr>
          <p:cNvPicPr>
            <a:picLocks noChangeAspect="1"/>
          </p:cNvPicPr>
          <p:nvPr/>
        </p:nvPicPr>
        <p:blipFill>
          <a:blip r:embed="rId5"/>
          <a:stretch>
            <a:fillRect/>
          </a:stretch>
        </p:blipFill>
        <p:spPr>
          <a:xfrm>
            <a:off x="5054600" y="4451350"/>
            <a:ext cx="5686326" cy="584200"/>
          </a:xfrm>
          <a:prstGeom prst="rect">
            <a:avLst/>
          </a:prstGeom>
        </p:spPr>
      </p:pic>
      <p:pic>
        <p:nvPicPr>
          <p:cNvPr id="7" name="Element 5" descr="Title – element 5">    </p:cNvPr>
          <p:cNvPicPr>
            <a:picLocks noChangeAspect="1"/>
          </p:cNvPicPr>
          <p:nvPr/>
        </p:nvPicPr>
        <p:blipFill>
          <a:blip r:embed="rId6"/>
          <a:stretch>
            <a:fillRect/>
          </a:stretch>
        </p:blipFill>
        <p:spPr>
          <a:xfrm>
            <a:off x="5054600" y="4864100"/>
            <a:ext cx="1572220" cy="577850"/>
          </a:xfrm>
          <a:prstGeom prst="rect">
            <a:avLst/>
          </a:prstGeom>
        </p:spPr>
      </p:pic>
      <p:pic>
        <p:nvPicPr>
          <p:cNvPr id="8" name="Element 6" descr="Title – element 6">    </p:cNvPr>
          <p:cNvPicPr>
            <a:picLocks noChangeAspect="1"/>
          </p:cNvPicPr>
          <p:nvPr/>
        </p:nvPicPr>
        <p:blipFill>
          <a:blip r:embed="rId7"/>
          <a:stretch>
            <a:fillRect/>
          </a:stretch>
        </p:blipFill>
        <p:spPr>
          <a:xfrm>
            <a:off x="5054600" y="5054600"/>
            <a:ext cx="6781800" cy="861020"/>
          </a:xfrm>
          <a:prstGeom prst="rect">
            <a:avLst/>
          </a:prstGeom>
        </p:spPr>
      </p:pic>
      <p:pic>
        <p:nvPicPr>
          <p:cNvPr id="9" name="Element 7" descr="Title – element 7">    </p:cNvPr>
          <p:cNvPicPr>
            <a:picLocks noChangeAspect="1"/>
          </p:cNvPicPr>
          <p:nvPr/>
        </p:nvPicPr>
        <p:blipFill>
          <a:blip r:embed="rId8"/>
          <a:stretch>
            <a:fillRect/>
          </a:stretch>
        </p:blipFill>
        <p:spPr>
          <a:xfrm>
            <a:off x="228600" y="6273800"/>
            <a:ext cx="6494760" cy="5715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Base" descr="Slide 2: Executive summary">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Executive summary – element 1">    </p:cNvPr>
          <p:cNvPicPr>
            <a:picLocks noChangeAspect="1"/>
          </p:cNvPicPr>
          <p:nvPr/>
        </p:nvPicPr>
        <p:blipFill>
          <a:blip r:embed="rId2"/>
          <a:stretch>
            <a:fillRect/>
          </a:stretch>
        </p:blipFill>
        <p:spPr>
          <a:xfrm>
            <a:off x="406400" y="800100"/>
            <a:ext cx="3804444" cy="628650"/>
          </a:xfrm>
          <a:prstGeom prst="rect">
            <a:avLst/>
          </a:prstGeom>
        </p:spPr>
      </p:pic>
      <p:pic>
        <p:nvPicPr>
          <p:cNvPr id="4" name="Element 2" descr="Executive summary – element 2">    </p:cNvPr>
          <p:cNvPicPr>
            <a:picLocks noChangeAspect="1"/>
          </p:cNvPicPr>
          <p:nvPr/>
        </p:nvPicPr>
        <p:blipFill>
          <a:blip r:embed="rId3"/>
          <a:stretch>
            <a:fillRect/>
          </a:stretch>
        </p:blipFill>
        <p:spPr>
          <a:xfrm>
            <a:off x="406400" y="1689100"/>
            <a:ext cx="2971800" cy="3098800"/>
          </a:xfrm>
          <a:prstGeom prst="rect">
            <a:avLst/>
          </a:prstGeom>
        </p:spPr>
      </p:pic>
      <p:pic>
        <p:nvPicPr>
          <p:cNvPr id="5" name="Element 3" descr="Executive summary – element 3">    </p:cNvPr>
          <p:cNvPicPr>
            <a:picLocks noChangeAspect="1"/>
          </p:cNvPicPr>
          <p:nvPr/>
        </p:nvPicPr>
        <p:blipFill>
          <a:blip r:embed="rId4"/>
          <a:stretch>
            <a:fillRect/>
          </a:stretch>
        </p:blipFill>
        <p:spPr>
          <a:xfrm>
            <a:off x="3200400" y="1689100"/>
            <a:ext cx="2971800" cy="3098800"/>
          </a:xfrm>
          <a:prstGeom prst="rect">
            <a:avLst/>
          </a:prstGeom>
        </p:spPr>
      </p:pic>
      <p:pic>
        <p:nvPicPr>
          <p:cNvPr id="6" name="Element 4" descr="Executive summary – element 4">    </p:cNvPr>
          <p:cNvPicPr>
            <a:picLocks noChangeAspect="1"/>
          </p:cNvPicPr>
          <p:nvPr/>
        </p:nvPicPr>
        <p:blipFill>
          <a:blip r:embed="rId5"/>
          <a:stretch>
            <a:fillRect/>
          </a:stretch>
        </p:blipFill>
        <p:spPr>
          <a:xfrm>
            <a:off x="5994400" y="1689100"/>
            <a:ext cx="2971800" cy="3098800"/>
          </a:xfrm>
          <a:prstGeom prst="rect">
            <a:avLst/>
          </a:prstGeom>
        </p:spPr>
      </p:pic>
      <p:pic>
        <p:nvPicPr>
          <p:cNvPr id="7" name="Element 5" descr="Executive summary – element 5">    </p:cNvPr>
          <p:cNvPicPr>
            <a:picLocks noChangeAspect="1"/>
          </p:cNvPicPr>
          <p:nvPr/>
        </p:nvPicPr>
        <p:blipFill>
          <a:blip r:embed="rId6"/>
          <a:stretch>
            <a:fillRect/>
          </a:stretch>
        </p:blipFill>
        <p:spPr>
          <a:xfrm>
            <a:off x="8788400" y="1689100"/>
            <a:ext cx="2971800" cy="3098800"/>
          </a:xfrm>
          <a:prstGeom prst="rect">
            <a:avLst/>
          </a:prstGeom>
        </p:spPr>
      </p:pic>
      <p:pic>
        <p:nvPicPr>
          <p:cNvPr id="8" name="Element 6" descr="Executive summary – element 6">    </p:cNvPr>
          <p:cNvPicPr>
            <a:picLocks noChangeAspect="1"/>
          </p:cNvPicPr>
          <p:nvPr/>
        </p:nvPicPr>
        <p:blipFill>
          <a:blip r:embed="rId7"/>
          <a:stretch>
            <a:fillRect/>
          </a:stretch>
        </p:blipFill>
        <p:spPr>
          <a:xfrm>
            <a:off x="406400" y="4610100"/>
            <a:ext cx="11353800" cy="1130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Base" descr="Slide 3: Company and environment">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Company and environment – element 1">    </p:cNvPr>
          <p:cNvPicPr>
            <a:picLocks noChangeAspect="1"/>
          </p:cNvPicPr>
          <p:nvPr/>
        </p:nvPicPr>
        <p:blipFill>
          <a:blip r:embed="rId2"/>
          <a:stretch>
            <a:fillRect/>
          </a:stretch>
        </p:blipFill>
        <p:spPr>
          <a:xfrm>
            <a:off x="406400" y="1371600"/>
            <a:ext cx="2051050" cy="1289050"/>
          </a:xfrm>
          <a:prstGeom prst="rect">
            <a:avLst/>
          </a:prstGeom>
        </p:spPr>
      </p:pic>
      <p:pic>
        <p:nvPicPr>
          <p:cNvPr id="4" name="Element 2" descr="Company and environment – element 2">    </p:cNvPr>
          <p:cNvPicPr>
            <a:picLocks noChangeAspect="1"/>
          </p:cNvPicPr>
          <p:nvPr/>
        </p:nvPicPr>
        <p:blipFill>
          <a:blip r:embed="rId3"/>
          <a:stretch>
            <a:fillRect/>
          </a:stretch>
        </p:blipFill>
        <p:spPr>
          <a:xfrm>
            <a:off x="2120900" y="1371600"/>
            <a:ext cx="2051050" cy="1289050"/>
          </a:xfrm>
          <a:prstGeom prst="rect">
            <a:avLst/>
          </a:prstGeom>
        </p:spPr>
      </p:pic>
      <p:pic>
        <p:nvPicPr>
          <p:cNvPr id="5" name="Element 3" descr="Company and environment – element 3">    </p:cNvPr>
          <p:cNvPicPr>
            <a:picLocks noChangeAspect="1"/>
          </p:cNvPicPr>
          <p:nvPr/>
        </p:nvPicPr>
        <p:blipFill>
          <a:blip r:embed="rId4"/>
          <a:stretch>
            <a:fillRect/>
          </a:stretch>
        </p:blipFill>
        <p:spPr>
          <a:xfrm>
            <a:off x="3835400" y="1371600"/>
            <a:ext cx="2051050" cy="1289050"/>
          </a:xfrm>
          <a:prstGeom prst="rect">
            <a:avLst/>
          </a:prstGeom>
        </p:spPr>
      </p:pic>
      <p:pic>
        <p:nvPicPr>
          <p:cNvPr id="6" name="Element 4" descr="Company and environment – element 4">    </p:cNvPr>
          <p:cNvPicPr>
            <a:picLocks noChangeAspect="1"/>
          </p:cNvPicPr>
          <p:nvPr/>
        </p:nvPicPr>
        <p:blipFill>
          <a:blip r:embed="rId5"/>
          <a:stretch>
            <a:fillRect/>
          </a:stretch>
        </p:blipFill>
        <p:spPr>
          <a:xfrm>
            <a:off x="5549900" y="1371600"/>
            <a:ext cx="1765300" cy="1289050"/>
          </a:xfrm>
          <a:prstGeom prst="rect">
            <a:avLst/>
          </a:prstGeom>
        </p:spPr>
      </p:pic>
      <p:pic>
        <p:nvPicPr>
          <p:cNvPr id="7" name="Element 5" descr="Company and environment – element 5">    </p:cNvPr>
          <p:cNvPicPr>
            <a:picLocks noChangeAspect="1"/>
          </p:cNvPicPr>
          <p:nvPr/>
        </p:nvPicPr>
        <p:blipFill>
          <a:blip r:embed="rId6"/>
          <a:stretch>
            <a:fillRect/>
          </a:stretch>
        </p:blipFill>
        <p:spPr>
          <a:xfrm>
            <a:off x="406400" y="2482850"/>
            <a:ext cx="6908800" cy="1244600"/>
          </a:xfrm>
          <a:prstGeom prst="rect">
            <a:avLst/>
          </a:prstGeom>
        </p:spPr>
      </p:pic>
      <p:pic>
        <p:nvPicPr>
          <p:cNvPr id="8" name="Element 6" descr="Company and environment – element 6">    </p:cNvPr>
          <p:cNvPicPr>
            <a:picLocks noChangeAspect="1"/>
          </p:cNvPicPr>
          <p:nvPr/>
        </p:nvPicPr>
        <p:blipFill>
          <a:blip r:embed="rId7"/>
          <a:stretch>
            <a:fillRect/>
          </a:stretch>
        </p:blipFill>
        <p:spPr>
          <a:xfrm>
            <a:off x="406400" y="3943350"/>
            <a:ext cx="7162800" cy="1769666"/>
          </a:xfrm>
          <a:prstGeom prst="rect">
            <a:avLst/>
          </a:prstGeom>
        </p:spPr>
      </p:pic>
      <p:pic>
        <p:nvPicPr>
          <p:cNvPr id="9" name="Element 7" descr="Company and environment – element 7">    </p:cNvPr>
          <p:cNvPicPr>
            <a:picLocks noChangeAspect="1"/>
          </p:cNvPicPr>
          <p:nvPr/>
        </p:nvPicPr>
        <p:blipFill>
          <a:blip r:embed="rId8"/>
          <a:stretch>
            <a:fillRect/>
          </a:stretch>
        </p:blipFill>
        <p:spPr>
          <a:xfrm>
            <a:off x="7531100" y="3975100"/>
            <a:ext cx="4241800" cy="17970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Base" descr="Slide 4: Competitive advantage">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Competitive advantage – element 1">    </p:cNvPr>
          <p:cNvPicPr>
            <a:picLocks noChangeAspect="1"/>
          </p:cNvPicPr>
          <p:nvPr/>
        </p:nvPicPr>
        <p:blipFill>
          <a:blip r:embed="rId2"/>
          <a:stretch>
            <a:fillRect/>
          </a:stretch>
        </p:blipFill>
        <p:spPr>
          <a:xfrm>
            <a:off x="406400" y="787400"/>
            <a:ext cx="8432800" cy="628650"/>
          </a:xfrm>
          <a:prstGeom prst="rect">
            <a:avLst/>
          </a:prstGeom>
        </p:spPr>
      </p:pic>
      <p:pic>
        <p:nvPicPr>
          <p:cNvPr id="4" name="Element 2" descr="Competitive advantage – element 2">    </p:cNvPr>
          <p:cNvPicPr>
            <a:picLocks noChangeAspect="1"/>
          </p:cNvPicPr>
          <p:nvPr/>
        </p:nvPicPr>
        <p:blipFill>
          <a:blip r:embed="rId3"/>
          <a:stretch>
            <a:fillRect/>
          </a:stretch>
        </p:blipFill>
        <p:spPr>
          <a:xfrm>
            <a:off x="393700" y="1447800"/>
            <a:ext cx="3098800" cy="4495800"/>
          </a:xfrm>
          <a:prstGeom prst="rect">
            <a:avLst/>
          </a:prstGeom>
        </p:spPr>
      </p:pic>
      <p:pic>
        <p:nvPicPr>
          <p:cNvPr id="5" name="Element 3" descr="Competitive advantage – element 3">    </p:cNvPr>
          <p:cNvPicPr>
            <a:picLocks noChangeAspect="1"/>
          </p:cNvPicPr>
          <p:nvPr/>
        </p:nvPicPr>
        <p:blipFill>
          <a:blip r:embed="rId4"/>
          <a:stretch>
            <a:fillRect/>
          </a:stretch>
        </p:blipFill>
        <p:spPr>
          <a:xfrm>
            <a:off x="3187700" y="1447800"/>
            <a:ext cx="3098800" cy="4495800"/>
          </a:xfrm>
          <a:prstGeom prst="rect">
            <a:avLst/>
          </a:prstGeom>
        </p:spPr>
      </p:pic>
      <p:pic>
        <p:nvPicPr>
          <p:cNvPr id="6" name="Element 4" descr="Competitive advantage – element 4">    </p:cNvPr>
          <p:cNvPicPr>
            <a:picLocks noChangeAspect="1"/>
          </p:cNvPicPr>
          <p:nvPr/>
        </p:nvPicPr>
        <p:blipFill>
          <a:blip r:embed="rId5"/>
          <a:stretch>
            <a:fillRect/>
          </a:stretch>
        </p:blipFill>
        <p:spPr>
          <a:xfrm>
            <a:off x="5981700" y="1447800"/>
            <a:ext cx="3098800" cy="4495800"/>
          </a:xfrm>
          <a:prstGeom prst="rect">
            <a:avLst/>
          </a:prstGeom>
        </p:spPr>
      </p:pic>
      <p:pic>
        <p:nvPicPr>
          <p:cNvPr id="7" name="Element 5" descr="Competitive advantage – element 5">    </p:cNvPr>
          <p:cNvPicPr>
            <a:picLocks noChangeAspect="1"/>
          </p:cNvPicPr>
          <p:nvPr/>
        </p:nvPicPr>
        <p:blipFill>
          <a:blip r:embed="rId6"/>
          <a:stretch>
            <a:fillRect/>
          </a:stretch>
        </p:blipFill>
        <p:spPr>
          <a:xfrm>
            <a:off x="8775700" y="1447800"/>
            <a:ext cx="3022600" cy="4495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Base" descr="Slide 5: Financial performance">    </p:cNvPr>
          <p:cNvPicPr>
            <a:picLocks noChangeAspect="1"/>
          </p:cNvPicPr>
          <p:nvPr/>
        </p:nvPicPr>
        <p:blipFill>
          <a:blip r:embed="rId1"/>
          <a:stretch>
            <a:fillRect/>
          </a:stretch>
        </p:blipFill>
        <p:spPr>
          <a:xfrm>
            <a:off x="0" y="0"/>
            <a:ext cx="12191695" cy="6858000"/>
          </a:xfrm>
          <a:prstGeom prst="rect">
            <a:avLst/>
          </a:prstGeom>
        </p:spPr>
      </p:pic>
      <p:pic>
        <p:nvPicPr>
          <p:cNvPr id="3" name="Chart 1" descr="Financial performance – element 1">    </p:cNvPr>
          <p:cNvPicPr>
            <a:picLocks noChangeAspect="1"/>
          </p:cNvPicPr>
          <p:nvPr/>
        </p:nvPicPr>
        <p:blipFill>
          <a:blip r:embed="rId2"/>
          <a:stretch>
            <a:fillRect/>
          </a:stretch>
        </p:blipFill>
        <p:spPr>
          <a:xfrm>
            <a:off x="393700" y="1371600"/>
            <a:ext cx="7480300" cy="4241800"/>
          </a:xfrm>
          <a:prstGeom prst="rect">
            <a:avLst/>
          </a:prstGeom>
        </p:spPr>
      </p:pic>
      <p:pic>
        <p:nvPicPr>
          <p:cNvPr id="4" name="Chart 2" descr="Financial performance – element 2">    </p:cNvPr>
          <p:cNvPicPr>
            <a:picLocks noChangeAspect="1"/>
          </p:cNvPicPr>
          <p:nvPr/>
        </p:nvPicPr>
        <p:blipFill>
          <a:blip r:embed="rId3"/>
          <a:stretch>
            <a:fillRect/>
          </a:stretch>
        </p:blipFill>
        <p:spPr>
          <a:xfrm>
            <a:off x="7658100" y="1371600"/>
            <a:ext cx="4140200" cy="2273300"/>
          </a:xfrm>
          <a:prstGeom prst="rect">
            <a:avLst/>
          </a:prstGeom>
        </p:spPr>
      </p:pic>
      <p:pic>
        <p:nvPicPr>
          <p:cNvPr id="5" name="Chart 3" descr="Financial performance – element 3">    </p:cNvPr>
          <p:cNvPicPr>
            <a:picLocks noChangeAspect="1"/>
          </p:cNvPicPr>
          <p:nvPr/>
        </p:nvPicPr>
        <p:blipFill>
          <a:blip r:embed="rId4"/>
          <a:stretch>
            <a:fillRect/>
          </a:stretch>
        </p:blipFill>
        <p:spPr>
          <a:xfrm>
            <a:off x="7658100" y="3340100"/>
            <a:ext cx="4140200" cy="2273300"/>
          </a:xfrm>
          <a:prstGeom prst="rect">
            <a:avLst/>
          </a:prstGeom>
        </p:spPr>
      </p:pic>
      <p:pic>
        <p:nvPicPr>
          <p:cNvPr id="6" name="Element 4" descr="Financial performance – element 4">    </p:cNvPr>
          <p:cNvPicPr>
            <a:picLocks noChangeAspect="1"/>
          </p:cNvPicPr>
          <p:nvPr/>
        </p:nvPicPr>
        <p:blipFill>
          <a:blip r:embed="rId5"/>
          <a:stretch>
            <a:fillRect/>
          </a:stretch>
        </p:blipFill>
        <p:spPr>
          <a:xfrm>
            <a:off x="1919635" y="5372100"/>
            <a:ext cx="8352730"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700"/>
                                        <p:tgtEl>
                                          <p:spTgt spid="3"/>
                                        </p:tgtEl>
                                      </p:cBhvr>
                                    </p:animEffect>
                                  </p:childTnLst>
                                </p:cTn>
                              </p:par>
                              <p:par>
                                <p:cTn id="8" presetID="22" presetClass="entr" presetSubtype="4"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700"/>
                                        <p:tgtEl>
                                          <p:spTgt spid="4"/>
                                        </p:tgtEl>
                                      </p:cBhvr>
                                    </p:animEffect>
                                  </p:childTnLst>
                                </p:cTn>
                              </p:par>
                              <p:par>
                                <p:cTn id="11" presetID="22" presetClass="entr" presetSubtype="4"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wipe(up)">
                                      <p:cBhvr>
                                        <p:cTn id="13" dur="7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Base" descr="Slide 6: Accounting analysis – judgement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Accounting analysis – judgements – element 1">    </p:cNvPr>
          <p:cNvPicPr>
            <a:picLocks noChangeAspect="1"/>
          </p:cNvPicPr>
          <p:nvPr/>
        </p:nvPicPr>
        <p:blipFill>
          <a:blip r:embed="rId2"/>
          <a:stretch>
            <a:fillRect/>
          </a:stretch>
        </p:blipFill>
        <p:spPr>
          <a:xfrm>
            <a:off x="393700" y="1308100"/>
            <a:ext cx="9351268" cy="635000"/>
          </a:xfrm>
          <a:prstGeom prst="rect">
            <a:avLst/>
          </a:prstGeom>
        </p:spPr>
      </p:pic>
      <p:pic>
        <p:nvPicPr>
          <p:cNvPr id="4" name="Element 2" descr="Accounting analysis – judgements – element 2">    </p:cNvPr>
          <p:cNvPicPr>
            <a:picLocks noChangeAspect="1"/>
          </p:cNvPicPr>
          <p:nvPr/>
        </p:nvPicPr>
        <p:blipFill>
          <a:blip r:embed="rId3"/>
          <a:stretch>
            <a:fillRect/>
          </a:stretch>
        </p:blipFill>
        <p:spPr>
          <a:xfrm>
            <a:off x="393700" y="1816100"/>
            <a:ext cx="3067050" cy="3733800"/>
          </a:xfrm>
          <a:prstGeom prst="rect">
            <a:avLst/>
          </a:prstGeom>
        </p:spPr>
      </p:pic>
      <p:pic>
        <p:nvPicPr>
          <p:cNvPr id="5" name="Element 3" descr="Accounting analysis – judgements – element 3">    </p:cNvPr>
          <p:cNvPicPr>
            <a:picLocks noChangeAspect="1"/>
          </p:cNvPicPr>
          <p:nvPr/>
        </p:nvPicPr>
        <p:blipFill>
          <a:blip r:embed="rId4"/>
          <a:stretch>
            <a:fillRect/>
          </a:stretch>
        </p:blipFill>
        <p:spPr>
          <a:xfrm>
            <a:off x="3155950" y="1816100"/>
            <a:ext cx="3067050" cy="3733800"/>
          </a:xfrm>
          <a:prstGeom prst="rect">
            <a:avLst/>
          </a:prstGeom>
        </p:spPr>
      </p:pic>
      <p:pic>
        <p:nvPicPr>
          <p:cNvPr id="6" name="Element 4" descr="Accounting analysis – judgements – element 4">    </p:cNvPr>
          <p:cNvPicPr>
            <a:picLocks noChangeAspect="1"/>
          </p:cNvPicPr>
          <p:nvPr/>
        </p:nvPicPr>
        <p:blipFill>
          <a:blip r:embed="rId5"/>
          <a:stretch>
            <a:fillRect/>
          </a:stretch>
        </p:blipFill>
        <p:spPr>
          <a:xfrm>
            <a:off x="5918200" y="1816100"/>
            <a:ext cx="3067050" cy="3733800"/>
          </a:xfrm>
          <a:prstGeom prst="rect">
            <a:avLst/>
          </a:prstGeom>
        </p:spPr>
      </p:pic>
      <p:pic>
        <p:nvPicPr>
          <p:cNvPr id="7" name="Element 5" descr="Accounting analysis – judgements – element 5">    </p:cNvPr>
          <p:cNvPicPr>
            <a:picLocks noChangeAspect="1"/>
          </p:cNvPicPr>
          <p:nvPr/>
        </p:nvPicPr>
        <p:blipFill>
          <a:blip r:embed="rId6"/>
          <a:stretch>
            <a:fillRect/>
          </a:stretch>
        </p:blipFill>
        <p:spPr>
          <a:xfrm>
            <a:off x="8680450" y="1816100"/>
            <a:ext cx="3117850" cy="3733800"/>
          </a:xfrm>
          <a:prstGeom prst="rect">
            <a:avLst/>
          </a:prstGeom>
        </p:spPr>
      </p:pic>
      <p:pic>
        <p:nvPicPr>
          <p:cNvPr id="8" name="Element 6" descr="Accounting analysis – judgements – element 6">    </p:cNvPr>
          <p:cNvPicPr>
            <a:picLocks noChangeAspect="1"/>
          </p:cNvPicPr>
          <p:nvPr/>
        </p:nvPicPr>
        <p:blipFill>
          <a:blip r:embed="rId7"/>
          <a:stretch>
            <a:fillRect/>
          </a:stretch>
        </p:blipFill>
        <p:spPr>
          <a:xfrm>
            <a:off x="2333575" y="5346700"/>
            <a:ext cx="7524849"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Base" descr="Slide 7: Accounting adjustments vs. sensitivitie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Accounting adjustments vs. sensitivities – element 1">    </p:cNvPr>
          <p:cNvPicPr>
            <a:picLocks noChangeAspect="1"/>
          </p:cNvPicPr>
          <p:nvPr/>
        </p:nvPicPr>
        <p:blipFill>
          <a:blip r:embed="rId2"/>
          <a:stretch>
            <a:fillRect/>
          </a:stretch>
        </p:blipFill>
        <p:spPr>
          <a:xfrm>
            <a:off x="393700" y="1371600"/>
            <a:ext cx="5702300" cy="4241800"/>
          </a:xfrm>
          <a:prstGeom prst="rect">
            <a:avLst/>
          </a:prstGeom>
        </p:spPr>
      </p:pic>
      <p:pic>
        <p:nvPicPr>
          <p:cNvPr id="4" name="Chart 2" descr="Accounting adjustments vs. sensitivities – element 2">    </p:cNvPr>
          <p:cNvPicPr>
            <a:picLocks noChangeAspect="1"/>
          </p:cNvPicPr>
          <p:nvPr/>
        </p:nvPicPr>
        <p:blipFill>
          <a:blip r:embed="rId3"/>
          <a:stretch>
            <a:fillRect/>
          </a:stretch>
        </p:blipFill>
        <p:spPr>
          <a:xfrm>
            <a:off x="5854700" y="1371600"/>
            <a:ext cx="5943600" cy="4241800"/>
          </a:xfrm>
          <a:prstGeom prst="rect">
            <a:avLst/>
          </a:prstGeom>
        </p:spPr>
      </p:pic>
      <p:pic>
        <p:nvPicPr>
          <p:cNvPr id="5" name="Element 3" descr="Accounting adjustments vs. sensitivities – element 3">    </p:cNvPr>
          <p:cNvPicPr>
            <a:picLocks noChangeAspect="1"/>
          </p:cNvPicPr>
          <p:nvPr/>
        </p:nvPicPr>
        <p:blipFill>
          <a:blip r:embed="rId4"/>
          <a:stretch>
            <a:fillRect/>
          </a:stretch>
        </p:blipFill>
        <p:spPr>
          <a:xfrm>
            <a:off x="1622326" y="5372100"/>
            <a:ext cx="8947348"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22" presetClass="entr" presetSubtype="4"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7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Base" descr="Slide 8: Financial position and cash flow">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Financial position and cash flow – element 1">    </p:cNvPr>
          <p:cNvPicPr>
            <a:picLocks noChangeAspect="1"/>
          </p:cNvPicPr>
          <p:nvPr/>
        </p:nvPicPr>
        <p:blipFill>
          <a:blip r:embed="rId2"/>
          <a:stretch>
            <a:fillRect/>
          </a:stretch>
        </p:blipFill>
        <p:spPr>
          <a:xfrm>
            <a:off x="393700" y="1371600"/>
            <a:ext cx="3416300" cy="1384300"/>
          </a:xfrm>
          <a:prstGeom prst="rect">
            <a:avLst/>
          </a:prstGeom>
        </p:spPr>
      </p:pic>
      <p:pic>
        <p:nvPicPr>
          <p:cNvPr id="4" name="Element 2" descr="Financial position and cash flow – element 2">    </p:cNvPr>
          <p:cNvPicPr>
            <a:picLocks noChangeAspect="1"/>
          </p:cNvPicPr>
          <p:nvPr/>
        </p:nvPicPr>
        <p:blipFill>
          <a:blip r:embed="rId3"/>
          <a:stretch>
            <a:fillRect/>
          </a:stretch>
        </p:blipFill>
        <p:spPr>
          <a:xfrm>
            <a:off x="393700" y="2451100"/>
            <a:ext cx="3416300" cy="1384300"/>
          </a:xfrm>
          <a:prstGeom prst="rect">
            <a:avLst/>
          </a:prstGeom>
        </p:spPr>
      </p:pic>
      <p:pic>
        <p:nvPicPr>
          <p:cNvPr id="5" name="Element 3" descr="Financial position and cash flow – element 3">    </p:cNvPr>
          <p:cNvPicPr>
            <a:picLocks noChangeAspect="1"/>
          </p:cNvPicPr>
          <p:nvPr/>
        </p:nvPicPr>
        <p:blipFill>
          <a:blip r:embed="rId4"/>
          <a:stretch>
            <a:fillRect/>
          </a:stretch>
        </p:blipFill>
        <p:spPr>
          <a:xfrm>
            <a:off x="393700" y="3530600"/>
            <a:ext cx="3416300" cy="1384300"/>
          </a:xfrm>
          <a:prstGeom prst="rect">
            <a:avLst/>
          </a:prstGeom>
        </p:spPr>
      </p:pic>
      <p:pic>
        <p:nvPicPr>
          <p:cNvPr id="6" name="Chart 4" descr="Financial position and cash flow – element 4">    </p:cNvPr>
          <p:cNvPicPr>
            <a:picLocks noChangeAspect="1"/>
          </p:cNvPicPr>
          <p:nvPr/>
        </p:nvPicPr>
        <p:blipFill>
          <a:blip r:embed="rId5"/>
          <a:stretch>
            <a:fillRect/>
          </a:stretch>
        </p:blipFill>
        <p:spPr>
          <a:xfrm>
            <a:off x="3594100" y="1371600"/>
            <a:ext cx="5130800" cy="4241800"/>
          </a:xfrm>
          <a:prstGeom prst="rect">
            <a:avLst/>
          </a:prstGeom>
        </p:spPr>
      </p:pic>
      <p:pic>
        <p:nvPicPr>
          <p:cNvPr id="7" name="Chart 5" descr="Financial position and cash flow – element 5">    </p:cNvPr>
          <p:cNvPicPr>
            <a:picLocks noChangeAspect="1"/>
          </p:cNvPicPr>
          <p:nvPr/>
        </p:nvPicPr>
        <p:blipFill>
          <a:blip r:embed="rId6"/>
          <a:stretch>
            <a:fillRect/>
          </a:stretch>
        </p:blipFill>
        <p:spPr>
          <a:xfrm>
            <a:off x="8483600" y="1371600"/>
            <a:ext cx="3314700" cy="4241800"/>
          </a:xfrm>
          <a:prstGeom prst="rect">
            <a:avLst/>
          </a:prstGeom>
        </p:spPr>
      </p:pic>
      <p:pic>
        <p:nvPicPr>
          <p:cNvPr id="8" name="Element 6" descr="Financial position and cash flow – element 6">    </p:cNvPr>
          <p:cNvPicPr>
            <a:picLocks noChangeAspect="1"/>
          </p:cNvPicPr>
          <p:nvPr/>
        </p:nvPicPr>
        <p:blipFill>
          <a:blip r:embed="rId7"/>
          <a:stretch>
            <a:fillRect/>
          </a:stretch>
        </p:blipFill>
        <p:spPr>
          <a:xfrm>
            <a:off x="2895898" y="5372100"/>
            <a:ext cx="6400205"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22" presetClass="entr" presetSubtype="4"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wipe(up)">
                                      <p:cBhvr>
                                        <p:cTn id="16" dur="700"/>
                                        <p:tgtEl>
                                          <p:spTgt spid="6"/>
                                        </p:tgtEl>
                                      </p:cBhvr>
                                    </p:animEffect>
                                  </p:childTnLst>
                                </p:cTn>
                              </p:par>
                              <p:par>
                                <p:cTn id="17" presetID="22" presetClass="entr" presetSubtype="4"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wipe(up)">
                                      <p:cBhvr>
                                        <p:cTn id="19" dur="7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Base" descr="Slide 9: Working capital">    </p:cNvPr>
          <p:cNvPicPr>
            <a:picLocks noChangeAspect="1"/>
          </p:cNvPicPr>
          <p:nvPr/>
        </p:nvPicPr>
        <p:blipFill>
          <a:blip r:embed="rId1"/>
          <a:stretch>
            <a:fillRect/>
          </a:stretch>
        </p:blipFill>
        <p:spPr>
          <a:xfrm>
            <a:off x="0" y="0"/>
            <a:ext cx="12191695" cy="6858000"/>
          </a:xfrm>
          <a:prstGeom prst="rect">
            <a:avLst/>
          </a:prstGeom>
        </p:spPr>
      </p:pic>
      <p:pic>
        <p:nvPicPr>
          <p:cNvPr id="3" name="Chart 1" descr="Working capital – element 1">    </p:cNvPr>
          <p:cNvPicPr>
            <a:picLocks noChangeAspect="1"/>
          </p:cNvPicPr>
          <p:nvPr/>
        </p:nvPicPr>
        <p:blipFill>
          <a:blip r:embed="rId2"/>
          <a:stretch>
            <a:fillRect/>
          </a:stretch>
        </p:blipFill>
        <p:spPr>
          <a:xfrm>
            <a:off x="393700" y="1371600"/>
            <a:ext cx="4241800" cy="4241800"/>
          </a:xfrm>
          <a:prstGeom prst="rect">
            <a:avLst/>
          </a:prstGeom>
        </p:spPr>
      </p:pic>
      <p:pic>
        <p:nvPicPr>
          <p:cNvPr id="4" name="Chart 2" descr="Working capital – element 2">    </p:cNvPr>
          <p:cNvPicPr>
            <a:picLocks noChangeAspect="1"/>
          </p:cNvPicPr>
          <p:nvPr/>
        </p:nvPicPr>
        <p:blipFill>
          <a:blip r:embed="rId3"/>
          <a:stretch>
            <a:fillRect/>
          </a:stretch>
        </p:blipFill>
        <p:spPr>
          <a:xfrm>
            <a:off x="4394200" y="1371600"/>
            <a:ext cx="7404100" cy="4241800"/>
          </a:xfrm>
          <a:prstGeom prst="rect">
            <a:avLst/>
          </a:prstGeom>
        </p:spPr>
      </p:pic>
      <p:pic>
        <p:nvPicPr>
          <p:cNvPr id="5" name="Element 3" descr="Working capital – element 3">    </p:cNvPr>
          <p:cNvPicPr>
            <a:picLocks noChangeAspect="1"/>
          </p:cNvPicPr>
          <p:nvPr/>
        </p:nvPicPr>
        <p:blipFill>
          <a:blip r:embed="rId4"/>
          <a:stretch>
            <a:fillRect/>
          </a:stretch>
        </p:blipFill>
        <p:spPr>
          <a:xfrm>
            <a:off x="1704429" y="5372100"/>
            <a:ext cx="8783141"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700"/>
                                        <p:tgtEl>
                                          <p:spTgt spid="3"/>
                                        </p:tgtEl>
                                      </p:cBhvr>
                                    </p:animEffect>
                                  </p:childTnLst>
                                </p:cTn>
                              </p:par>
                              <p:par>
                                <p:cTn id="8" presetID="22" presetClass="entr" presetSubtype="4"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7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Base" descr="Slide 10: Investment assessment">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Investment assessment – element 1">    </p:cNvPr>
          <p:cNvPicPr>
            <a:picLocks noChangeAspect="1"/>
          </p:cNvPicPr>
          <p:nvPr/>
        </p:nvPicPr>
        <p:blipFill>
          <a:blip r:embed="rId2"/>
          <a:stretch>
            <a:fillRect/>
          </a:stretch>
        </p:blipFill>
        <p:spPr>
          <a:xfrm>
            <a:off x="406400" y="1371600"/>
            <a:ext cx="7289800" cy="860425"/>
          </a:xfrm>
          <a:prstGeom prst="rect">
            <a:avLst/>
          </a:prstGeom>
        </p:spPr>
      </p:pic>
      <p:pic>
        <p:nvPicPr>
          <p:cNvPr id="4" name="Element 2" descr="Investment assessment – element 2">    </p:cNvPr>
          <p:cNvPicPr>
            <a:picLocks noChangeAspect="1"/>
          </p:cNvPicPr>
          <p:nvPr/>
        </p:nvPicPr>
        <p:blipFill>
          <a:blip r:embed="rId3"/>
          <a:stretch>
            <a:fillRect/>
          </a:stretch>
        </p:blipFill>
        <p:spPr>
          <a:xfrm>
            <a:off x="393700" y="2768600"/>
            <a:ext cx="3987800" cy="1701800"/>
          </a:xfrm>
          <a:prstGeom prst="rect">
            <a:avLst/>
          </a:prstGeom>
        </p:spPr>
      </p:pic>
      <p:pic>
        <p:nvPicPr>
          <p:cNvPr id="5" name="Element 3" descr="Investment assessment – element 3">    </p:cNvPr>
          <p:cNvPicPr>
            <a:picLocks noChangeAspect="1"/>
          </p:cNvPicPr>
          <p:nvPr/>
        </p:nvPicPr>
        <p:blipFill>
          <a:blip r:embed="rId4"/>
          <a:stretch>
            <a:fillRect/>
          </a:stretch>
        </p:blipFill>
        <p:spPr>
          <a:xfrm>
            <a:off x="4102100" y="2768600"/>
            <a:ext cx="3987800" cy="1701800"/>
          </a:xfrm>
          <a:prstGeom prst="rect">
            <a:avLst/>
          </a:prstGeom>
        </p:spPr>
      </p:pic>
      <p:pic>
        <p:nvPicPr>
          <p:cNvPr id="6" name="Element 4" descr="Investment assessment – element 4">    </p:cNvPr>
          <p:cNvPicPr>
            <a:picLocks noChangeAspect="1"/>
          </p:cNvPicPr>
          <p:nvPr/>
        </p:nvPicPr>
        <p:blipFill>
          <a:blip r:embed="rId5"/>
          <a:stretch>
            <a:fillRect/>
          </a:stretch>
        </p:blipFill>
        <p:spPr>
          <a:xfrm>
            <a:off x="7810500" y="2768600"/>
            <a:ext cx="3987800" cy="1701800"/>
          </a:xfrm>
          <a:prstGeom prst="rect">
            <a:avLst/>
          </a:prstGeom>
        </p:spPr>
      </p:pic>
      <p:pic>
        <p:nvPicPr>
          <p:cNvPr id="7" name="Element 5" descr="Investment assessment – element 5">    </p:cNvPr>
          <p:cNvPicPr>
            <a:picLocks noChangeAspect="1"/>
          </p:cNvPicPr>
          <p:nvPr/>
        </p:nvPicPr>
        <p:blipFill>
          <a:blip r:embed="rId6"/>
          <a:stretch>
            <a:fillRect/>
          </a:stretch>
        </p:blipFill>
        <p:spPr>
          <a:xfrm>
            <a:off x="393700" y="4229100"/>
            <a:ext cx="5892800" cy="1511300"/>
          </a:xfrm>
          <a:prstGeom prst="rect">
            <a:avLst/>
          </a:prstGeom>
        </p:spPr>
      </p:pic>
      <p:pic>
        <p:nvPicPr>
          <p:cNvPr id="8" name="Element 6" descr="Investment assessment – element 6">    </p:cNvPr>
          <p:cNvPicPr>
            <a:picLocks noChangeAspect="1"/>
          </p:cNvPicPr>
          <p:nvPr/>
        </p:nvPicPr>
        <p:blipFill>
          <a:blip r:embed="rId7"/>
          <a:stretch>
            <a:fillRect/>
          </a:stretch>
        </p:blipFill>
        <p:spPr>
          <a:xfrm>
            <a:off x="5905500" y="4229100"/>
            <a:ext cx="5892800" cy="1511300"/>
          </a:xfrm>
          <a:prstGeom prst="rect">
            <a:avLst/>
          </a:prstGeom>
        </p:spPr>
      </p:pic>
      <p:pic>
        <p:nvPicPr>
          <p:cNvPr id="9" name="Element 7" descr="Investment assessment – element 7">    </p:cNvPr>
          <p:cNvPicPr>
            <a:picLocks noChangeAspect="1"/>
          </p:cNvPicPr>
          <p:nvPr/>
        </p:nvPicPr>
        <p:blipFill>
          <a:blip r:embed="rId8"/>
          <a:stretch>
            <a:fillRect/>
          </a:stretch>
        </p:blipFill>
        <p:spPr>
          <a:xfrm>
            <a:off x="406400" y="5403850"/>
            <a:ext cx="9583241" cy="571500"/>
          </a:xfrm>
          <a:prstGeom prst="rect">
            <a:avLst/>
          </a:prstGeom>
        </p:spPr>
      </p:pic>
      <p:pic>
        <p:nvPicPr>
          <p:cNvPr id="10" name="Focus 1" descr="Investment assessment – condition 1 highlighted">    </p:cNvPr>
          <p:cNvPicPr>
            <a:picLocks noChangeAspect="1"/>
          </p:cNvPicPr>
          <p:nvPr/>
        </p:nvPicPr>
        <p:blipFill>
          <a:blip r:embed="rId9"/>
          <a:stretch>
            <a:fillRect/>
          </a:stretch>
        </p:blipFill>
        <p:spPr>
          <a:xfrm>
            <a:off x="0" y="0"/>
            <a:ext cx="12191695" cy="6858000"/>
          </a:xfrm>
          <a:prstGeom prst="rect">
            <a:avLst/>
          </a:prstGeom>
        </p:spPr>
      </p:pic>
      <p:pic>
        <p:nvPicPr>
          <p:cNvPr id="11" name="Focus 2" descr="Investment assessment – condition 2 highlighted">    </p:cNvPr>
          <p:cNvPicPr>
            <a:picLocks noChangeAspect="1"/>
          </p:cNvPicPr>
          <p:nvPr/>
        </p:nvPicPr>
        <p:blipFill>
          <a:blip r:embed="rId10"/>
          <a:stretch>
            <a:fillRect/>
          </a:stretch>
        </p:blipFill>
        <p:spPr>
          <a:xfrm>
            <a:off x="0" y="0"/>
            <a:ext cx="12191695" cy="6858000"/>
          </a:xfrm>
          <a:prstGeom prst="rect">
            <a:avLst/>
          </a:prstGeom>
        </p:spPr>
      </p:pic>
      <p:pic>
        <p:nvPicPr>
          <p:cNvPr id="12" name="Focus 3" descr="Investment assessment – condition 3 highlighted">    </p:cNvPr>
          <p:cNvPicPr>
            <a:picLocks noChangeAspect="1"/>
          </p:cNvPicPr>
          <p:nvPr/>
        </p:nvPicPr>
        <p:blipFill>
          <a:blip r:embed="rId11"/>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350"/>
                                        <p:tgtEl>
                                          <p:spTgt spid="10"/>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350"/>
                                        <p:tgtEl>
                                          <p:spTgt spid="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3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Base" descr="Slide 11: Conclusion">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Conclusion – element 1">    </p:cNvPr>
          <p:cNvPicPr>
            <a:picLocks noChangeAspect="1"/>
          </p:cNvPicPr>
          <p:nvPr/>
        </p:nvPicPr>
        <p:blipFill>
          <a:blip r:embed="rId2"/>
          <a:stretch>
            <a:fillRect/>
          </a:stretch>
        </p:blipFill>
        <p:spPr>
          <a:xfrm>
            <a:off x="4508500" y="1943100"/>
            <a:ext cx="7416800" cy="3289300"/>
          </a:xfrm>
          <a:prstGeom prst="rect">
            <a:avLst/>
          </a:prstGeom>
        </p:spPr>
      </p:pic>
      <p:pic>
        <p:nvPicPr>
          <p:cNvPr id="4" name="Element 2" descr="Conclusion – element 2">    </p:cNvPr>
          <p:cNvPicPr>
            <a:picLocks noChangeAspect="1"/>
          </p:cNvPicPr>
          <p:nvPr/>
        </p:nvPicPr>
        <p:blipFill>
          <a:blip r:embed="rId3"/>
          <a:stretch>
            <a:fillRect/>
          </a:stretch>
        </p:blipFill>
        <p:spPr>
          <a:xfrm>
            <a:off x="5118100" y="4940300"/>
            <a:ext cx="6718300" cy="1238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Base" descr="Slide 12: Thank you">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Thank you – element 1">    </p:cNvPr>
          <p:cNvPicPr>
            <a:picLocks noChangeAspect="1"/>
          </p:cNvPicPr>
          <p:nvPr/>
        </p:nvPicPr>
        <p:blipFill>
          <a:blip r:embed="rId2"/>
          <a:stretch>
            <a:fillRect/>
          </a:stretch>
        </p:blipFill>
        <p:spPr>
          <a:xfrm>
            <a:off x="393700" y="6102350"/>
            <a:ext cx="9428262" cy="5969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Liebherr Group – Investment Analysis 2022–2025</dc:title>
  <dc:subject>HAT1 Financial Reporting, Fontys University of Applied Sciences</dc:subject>
  <dc:creator>Simon Beermann, Adam Fliegel, Zofia Narkiewicz, Philipp Hoffmann, Zarah Gilmore Islam</dc:creator>
  <cp:lastModifiedBy>Simon Beermann, Adam Fliegel, Zofia Narkiewicz, Philipp Hoffmann, Zarah Gilmore Islam</cp:lastModifiedBy>
  <cp:revision>1</cp:revision>
  <dcterms:created xsi:type="dcterms:W3CDTF">2026-10-30T13:35:49Z</dcterms:created>
  <dcterms:modified xsi:type="dcterms:W3CDTF">2026-10-30T13:35:49Z</dcterms:modified>
</cp:coreProperties>
</file>